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e51d2224a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be51d2224a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be51d2224a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51d2224a_2_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e51d2224a_2_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be51d2224a_2_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e51d2224a_2_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be51d2224a_2_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be51d2224a_2_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51d2224a_2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e51d2224a_2_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e51d2224a_2_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51d2224a_2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be51d2224a_2_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be51d2224a_2_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e51d2224a_2_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be51d2224a_2_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e51d2224a_2_8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e51d2224a_2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be51d2224a_2_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e51d2224a_2_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e51d2224a_2_1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be51d2224a_2_1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be51d2224a_2_1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e51d2224a_2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be51d2224a_2_1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be51d2224a_2_1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e51d2224a_2_1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be51d2224a_2_1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be51d2224a_2_1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e51d2224a_2_1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be51d2224a_2_1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e51d2224a_2_1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51d2224a_2_2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be51d2224a_2_2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be51d2224a_2_2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e51d2224a_2_2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be51d2224a_2_2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be51d2224a_2_2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e51d2224a_2_2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be51d2224a_2_2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be51d2224a_2_2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e51d2224a_2_2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be51d2224a_2_2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be51d2224a_2_2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e51d2224a_2_2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be51d2224a_2_2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be51d2224a_2_2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e51d2224a_2_2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be51d2224a_2_2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be51d2224a_2_2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e51d2224a_2_2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be51d2224a_2_2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be51d2224a_2_2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e51d2224a_2_3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be51d2224a_2_3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be51d2224a_2_3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e51d2224a_2_3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be51d2224a_2_3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be51d2224a_2_3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e51d2224a_2_3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be51d2224a_2_3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be51d2224a_2_3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e51d2224a_2_3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be51d2224a_2_35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be51d2224a_2_35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563E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TESTING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rPr>
              <a:t>Testing Systems That Don't Behave the Same Way Twice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Session | AI &amp; GenAI Testing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Takshin Varma | AI Testing Trainer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You Took the First Step 🚀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731520" y="1371600"/>
            <a:ext cx="237744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731520" y="1371600"/>
            <a:ext cx="237744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731520" y="1828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is Everywhere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731520" y="23774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Deployed across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industries 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3657600" y="1371600"/>
            <a:ext cx="237744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657600" y="1371600"/>
            <a:ext cx="237744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3657600" y="1828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Trust is the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Problem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657600" y="23774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Users need reliable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and safe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6583680" y="1371600"/>
            <a:ext cx="2377440" cy="2011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583680" y="1371600"/>
            <a:ext cx="237744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583680" y="1828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Decides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6583680" y="23774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Quality assurance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AI behavior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libri"/>
              <a:buNone/>
            </a:pPr>
            <a:r>
              <a:rPr b="0" i="1" lang="en" sz="1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Today is about CLARITY — not complexity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Why I Care About AI Testing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731520" y="137160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1188720" y="132588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&amp; engineering background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731520" y="2103120"/>
            <a:ext cx="274320" cy="274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1188720" y="20574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Worked with real AI 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731520" y="2834640"/>
            <a:ext cx="27432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1188720" y="27889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Saw traditional testing break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914400" y="3657600"/>
            <a:ext cx="91440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1280160" y="3931920"/>
            <a:ext cx="6675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None/>
            </a:pPr>
            <a:r>
              <a:rPr b="0" i="1" lang="en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"Same input, different output — and no one could explain which one was correct."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AI Problems We See Every Day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731520" y="1371600"/>
            <a:ext cx="246888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731520" y="1371600"/>
            <a:ext cx="246888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914400" y="169164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Hallucinations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3657600" y="1371600"/>
            <a:ext cx="246888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3657600" y="1371600"/>
            <a:ext cx="24688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3840480" y="169164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Confident Wrong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Answers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583680" y="1371600"/>
            <a:ext cx="246888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6583680" y="1371600"/>
            <a:ext cx="24688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6766560" y="169164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731520" y="2926080"/>
            <a:ext cx="246888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731520" y="2926080"/>
            <a:ext cx="246888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914400" y="32461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Toxic Outputs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657600" y="2926080"/>
            <a:ext cx="246888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3657600" y="2926080"/>
            <a:ext cx="246888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3840480" y="32461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Leakage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583680" y="2926080"/>
            <a:ext cx="2468880" cy="11887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6583680" y="2926080"/>
            <a:ext cx="2468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6766560" y="32461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Non-determinism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AI doesn't crash — it confidently gives WRONG answers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Testing AI Is MANDATORY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AI Fails Silently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914400" y="2240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error messages, just wrong outputs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Users Trust Confident Answers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914400" y="3063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sounds authoritative even when wrong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Production Risk is HIGH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Real users, real consequences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you don't test AI, your users will.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Why AI Testing Is a Hot Skill 🔥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82296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6000"/>
              <a:buFont typeface="Calibri"/>
              <a:buNone/>
            </a:pPr>
            <a:r>
              <a:rPr b="1" i="0" lang="en" sz="6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822960" y="2468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Adoption 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EXPLODING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822960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Companies rushing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deploy AI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329184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6000"/>
              <a:buFont typeface="Calibri"/>
              <a:buNone/>
            </a:pPr>
            <a:r>
              <a:rPr b="1" i="0" lang="en" sz="6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3291840" y="2468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Regulations &amp;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291840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Governments demanding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accountability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576072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6000"/>
              <a:buFont typeface="Calibri"/>
              <a:buNone/>
            </a:pPr>
            <a:r>
              <a:rPr b="1" i="0" lang="en" sz="6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5760720" y="24688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Trust &amp; Safety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Roles Growing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5760720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Dedicated teams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 quality assurance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Building AI is easy. Making it TRUSTWORTHY is hard.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So… What Exactly Is AI Testing?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731520" y="1371600"/>
            <a:ext cx="3657600" cy="1645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731520" y="1371600"/>
            <a:ext cx="137160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1005840" y="16459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Behavior Testing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1005840" y="21031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Validating AI responses 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actions match expectations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4937760" y="1371600"/>
            <a:ext cx="3657600" cy="1645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4937760" y="1371600"/>
            <a:ext cx="137160" cy="1645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5212080" y="164592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Risk Validation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5212080" y="21031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Identifying potential harm,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bias, and failure modes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731520" y="3566160"/>
            <a:ext cx="3657600" cy="1645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731520" y="3566160"/>
            <a:ext cx="13716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1005840" y="38404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Quality Measurement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1005840" y="42976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Metrics and benchmarks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AI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4937760" y="3566160"/>
            <a:ext cx="3657600" cy="1645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4937760" y="3566160"/>
            <a:ext cx="137160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5212080" y="38404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Safety Checks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5212080" y="429768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Ensuring responsible 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ethical AI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Who Is This For?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731520" y="1371600"/>
            <a:ext cx="2286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1097280" y="1325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Testers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3017520" y="13258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Upgrade skills: DeepEval, RAGAS, red teaming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731520" y="2148840"/>
            <a:ext cx="228600" cy="228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1097280" y="21031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Developers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3017520" y="2103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Ship AI apps with CI eval gates &amp; tracing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731520" y="292608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1097280" y="28803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Freshers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3017520" y="2880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Learn Python, LLMs, and industry-grade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731520" y="3703320"/>
            <a:ext cx="228600" cy="228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1097280" y="3657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Managers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3017520" y="36576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 Understand AI risk: OWASP LLM Top 10 &amp; governance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371600" y="45720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You don't need to be an ML expert. You need a TESTER'S mindset.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Traditional Testing vs AI Testing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457200" y="13716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Deterministic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731520" y="23317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input → same 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Exact 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731520" y="31546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Matches specification exactly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731520" y="36576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Pass/Fail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731520" y="39776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Binary result - works or doesn't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TESTING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937760" y="20116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Probabilistic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4937760" y="233172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input → different outputs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Acceptable Range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4937760" y="31546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Within expected boundaries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937760" y="36576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 Assertions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4937760" y="39776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Degrees of quality and safety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1" lang="en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AI testing moves from CERTAINTY to PROBABILITY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B98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Good News: You Already Know This 🙂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1097280" y="15544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1097280" y="15544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Test Case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3291840" y="15544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4023360" y="1554480"/>
            <a:ext cx="23774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4023360" y="15544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1097280" y="22402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1097280" y="22402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3291840" y="22402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4023360" y="2240280"/>
            <a:ext cx="23774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4"/>
          <p:cNvSpPr/>
          <p:nvPr/>
        </p:nvSpPr>
        <p:spPr>
          <a:xfrm>
            <a:off x="4023360" y="22402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Prompt Variation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1097280" y="29260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1097280" y="29260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Assertion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3291840" y="29260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023360" y="2926080"/>
            <a:ext cx="23774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4023360" y="29260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Heuristic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1097280" y="361188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>
            <a:off x="1097280" y="3611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3291840" y="3611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023360" y="3611880"/>
            <a:ext cx="23774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>
            <a:off x="4023360" y="3611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Prompt/Model Change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6858000" y="201168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6583680" y="29260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AI testing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already know!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What You'll Learn in This Course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914400" y="1371600"/>
            <a:ext cx="18288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1234440" y="1325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+ pytest for AI test automation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914400" y="1965960"/>
            <a:ext cx="182880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123444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LLMs, RAG &amp; AI Agent fundamentals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914400" y="256032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1234440" y="2514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Hallucination &amp; bias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4846320" y="1371600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5166360" y="1325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DeepEval, RAGAS &amp; Promptfoo hands-on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4846320" y="1965960"/>
            <a:ext cx="182880" cy="182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5166360" y="1920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LangSmith tracing &amp; GitHub Actions CI/CD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4846320" y="2560320"/>
            <a:ext cx="182880" cy="1828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166360" y="2514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Capstone: end-to-end AI test suite (LLM + RAG + Agents)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731520" y="3474720"/>
            <a:ext cx="7680960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914400" y="36118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NOT theory.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You will build REAL AI testing systems.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731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🔥 LIVE DEMO TIME 🔥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Let's Test an AI (Live)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2286000" y="310896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2560320" y="329184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Same prompt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Multiple runs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Observe behavior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What Did We Just See?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Calibri"/>
              <a:buNone/>
            </a:pPr>
            <a:r>
              <a:rPr b="0" i="1" lang="en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Observations as a Tester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914400" y="1645920"/>
            <a:ext cx="22860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1280160" y="16002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Different Phrasing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1280160" y="196596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Each response used different words and 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914400" y="2468880"/>
            <a:ext cx="228600" cy="228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1280160" y="24231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Different Depth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1280160" y="278892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Some responses were more detailed than others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914400" y="329184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1280160" y="32461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Confidence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1280160" y="36118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 responses sounded equally authoritative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Same question. Different answers. Now the tester's brain kicks 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Manual AI Test Case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1371600" y="1371600"/>
            <a:ext cx="13716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"/>
          <p:cNvSpPr/>
          <p:nvPr/>
        </p:nvSpPr>
        <p:spPr>
          <a:xfrm>
            <a:off x="1371600" y="137160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2926080" y="15087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2926080" y="1783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"Explain blockchain in simple terms"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1371600" y="2606040"/>
            <a:ext cx="64008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1371600" y="2606040"/>
            <a:ext cx="1371600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1371600" y="260604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2926080" y="2743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Accurate, Simple, Safe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926080" y="3017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Response should be factually correct, easy to understand, non-harmful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1371600" y="3840480"/>
            <a:ext cx="13716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"/>
          <p:cNvSpPr/>
          <p:nvPr/>
        </p:nvSpPr>
        <p:spPr>
          <a:xfrm>
            <a:off x="1371600" y="3840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2926080" y="39776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Keywords, Tone, Facts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2926080" y="4251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Check for key terms, appropriate language level, no misinformation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i="1" lang="en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We just created a test case without any tool!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7316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 What If There Are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6000"/>
              <a:buFont typeface="Arial Black"/>
              <a:buNone/>
            </a:pPr>
            <a:r>
              <a:rPr b="1" i="0" lang="en" sz="6000" u="none" cap="none" strike="noStrike">
                <a:solidFill>
                  <a:srgbClr val="EAB308"/>
                </a:solidFill>
                <a:latin typeface="Arial Black"/>
                <a:ea typeface="Arial Black"/>
                <a:cs typeface="Arial Black"/>
                <a:sym typeface="Arial Black"/>
              </a:rPr>
              <a:t>200 PROMPTS?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1828800" y="31089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Manual testing won't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1828800" y="35661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Models change frequently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Regression is real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Automation Is NOT Optional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0"/>
          <p:cNvSpPr/>
          <p:nvPr/>
        </p:nvSpPr>
        <p:spPr>
          <a:xfrm>
            <a:off x="822960" y="1554480"/>
            <a:ext cx="2377440" cy="228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822960" y="1554480"/>
            <a:ext cx="237744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1005840" y="2103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Batch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0"/>
          <p:cNvSpPr/>
          <p:nvPr/>
        </p:nvSpPr>
        <p:spPr>
          <a:xfrm>
            <a:off x="1005840" y="28346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Test hundreds of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prompts at once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0"/>
          <p:cNvSpPr/>
          <p:nvPr/>
        </p:nvSpPr>
        <p:spPr>
          <a:xfrm>
            <a:off x="3749040" y="1554480"/>
            <a:ext cx="2377440" cy="228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3749040" y="1554480"/>
            <a:ext cx="237744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0"/>
          <p:cNvSpPr/>
          <p:nvPr/>
        </p:nvSpPr>
        <p:spPr>
          <a:xfrm>
            <a:off x="3931920" y="2103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931920" y="28346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tests,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6675120" y="1554480"/>
            <a:ext cx="2377440" cy="2286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6675120" y="1554480"/>
            <a:ext cx="237744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"/>
          <p:cNvSpPr/>
          <p:nvPr/>
        </p:nvSpPr>
        <p:spPr>
          <a:xfrm>
            <a:off x="6858000" y="2103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6858000" y="28346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 tests 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Tools You'll Use in This Course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1828800" y="1828800"/>
            <a:ext cx="548640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1"/>
          <p:cNvSpPr/>
          <p:nvPr/>
        </p:nvSpPr>
        <p:spPr>
          <a:xfrm>
            <a:off x="1828800" y="1828800"/>
            <a:ext cx="109728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2194560" y="18288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DeepEval &amp; RAGAS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1828800" y="2651760"/>
            <a:ext cx="548640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1828800" y="2651760"/>
            <a:ext cx="109728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2194560" y="26517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Promptfoo &amp; LangSmith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1"/>
          <p:cNvSpPr/>
          <p:nvPr/>
        </p:nvSpPr>
        <p:spPr>
          <a:xfrm>
            <a:off x="1828800" y="3474720"/>
            <a:ext cx="109728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2194560" y="34747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 + GitHub Actions CI/CD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AI Test Automation 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1371600" y="15544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2"/>
          <p:cNvSpPr/>
          <p:nvPr/>
        </p:nvSpPr>
        <p:spPr>
          <a:xfrm>
            <a:off x="137160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2011680" y="15544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dataset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1371600" y="2176272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2"/>
          <p:cNvSpPr/>
          <p:nvPr/>
        </p:nvSpPr>
        <p:spPr>
          <a:xfrm>
            <a:off x="1371600" y="2176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2011680" y="217627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calls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1371600" y="279806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1371600" y="2798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2011680" y="2798064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Collect responses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2"/>
          <p:cNvSpPr/>
          <p:nvPr/>
        </p:nvSpPr>
        <p:spPr>
          <a:xfrm>
            <a:off x="1371600" y="341985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1371600" y="34198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2011680" y="3419856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Apply validations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1371600" y="4041648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/>
          <p:nvPr/>
        </p:nvSpPr>
        <p:spPr>
          <a:xfrm>
            <a:off x="1371600" y="40416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2011680" y="404164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 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This is no different from automation you already know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rPr>
              <a:t>Simple Automation Example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1828800" y="1828800"/>
            <a:ext cx="54864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"/>
          <p:cNvSpPr/>
          <p:nvPr/>
        </p:nvSpPr>
        <p:spPr>
          <a:xfrm>
            <a:off x="1828800" y="18288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 through prompts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4297680" y="24688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1828800" y="2606040"/>
            <a:ext cx="5486400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3"/>
          <p:cNvSpPr/>
          <p:nvPr/>
        </p:nvSpPr>
        <p:spPr>
          <a:xfrm>
            <a:off x="1828800" y="2606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 outputs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4297680" y="32461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1828800" y="3383280"/>
            <a:ext cx="548640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1828800" y="33832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 behavior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By the End of the Course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731520" y="1463040"/>
            <a:ext cx="3657600" cy="128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"/>
          <p:cNvSpPr/>
          <p:nvPr/>
        </p:nvSpPr>
        <p:spPr>
          <a:xfrm>
            <a:off x="731520" y="1463040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4"/>
          <p:cNvSpPr/>
          <p:nvPr/>
        </p:nvSpPr>
        <p:spPr>
          <a:xfrm>
            <a:off x="1005840" y="16459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Test Suites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1005840" y="20116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DeepEval + RAGAS + Promptfoo pipelines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4937760" y="1463040"/>
            <a:ext cx="3657600" cy="128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"/>
          <p:cNvSpPr/>
          <p:nvPr/>
        </p:nvSpPr>
        <p:spPr>
          <a:xfrm>
            <a:off x="4937760" y="1463040"/>
            <a:ext cx="109728" cy="1280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4"/>
          <p:cNvSpPr/>
          <p:nvPr/>
        </p:nvSpPr>
        <p:spPr>
          <a:xfrm>
            <a:off x="5212080" y="16459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Automated Evaluations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5212080" y="20116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LLM-as-a-judge, RAG metrics &amp; agent evals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731520" y="3291840"/>
            <a:ext cx="3657600" cy="128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4"/>
          <p:cNvSpPr/>
          <p:nvPr/>
        </p:nvSpPr>
        <p:spPr>
          <a:xfrm>
            <a:off x="731520" y="3291840"/>
            <a:ext cx="109728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4"/>
          <p:cNvSpPr/>
          <p:nvPr/>
        </p:nvSpPr>
        <p:spPr>
          <a:xfrm>
            <a:off x="1005840" y="3474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CI-integrated Testing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1005840" y="3840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GitHub Actions evals on every model push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4937760" y="3291840"/>
            <a:ext cx="3657600" cy="128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4937760" y="3291840"/>
            <a:ext cx="10972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4"/>
          <p:cNvSpPr/>
          <p:nvPr/>
        </p:nvSpPr>
        <p:spPr>
          <a:xfrm>
            <a:off x="5212080" y="3474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5212080" y="3840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 AI test suite: LLM + RAG + Agents + Voice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libri"/>
              <a:buNone/>
            </a:pPr>
            <a:r>
              <a:rPr b="1" i="1" lang="en" sz="1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You don't leave with notes. You leave with SKILLS.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B98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Are More Ready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4200"/>
              <a:buFont typeface="Arial"/>
              <a:buNone/>
            </a:pPr>
            <a:r>
              <a:rPr b="1" i="0" lang="en" sz="4200" u="none" cap="none" strike="noStrike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rPr>
              <a:t>Than You Think 💪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1828800" y="3017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No ML background required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1828800" y="3520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Testing mindset matters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1828800" y="40233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Structured thinking wins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rPr>
              <a:t>Final Thought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1371600" y="1645920"/>
            <a:ext cx="6400800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>
            <a:off x="1645920" y="19202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1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"AI is moving fast.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1645920" y="23774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0" i="1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question is 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/>
          <p:nvPr/>
        </p:nvSpPr>
        <p:spPr>
          <a:xfrm>
            <a:off x="1645920" y="28346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2200"/>
              <a:buFont typeface="Calibri"/>
              <a:buNone/>
            </a:pPr>
            <a:r>
              <a:rPr b="0" i="1" lang="en" sz="22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will you trust it blindly,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6"/>
          <p:cNvSpPr/>
          <p:nvPr/>
        </p:nvSpPr>
        <p:spPr>
          <a:xfrm>
            <a:off x="1645920" y="32918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Calibri"/>
              <a:buNone/>
            </a:pPr>
            <a:r>
              <a:rPr b="1" i="1" lang="en" sz="2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or will you be the one validating it?"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Thank you for your time.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Let's build AI we can TRUST.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